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00FFFF"/>
                </a:solidFill>
              </a:defRPr>
            </a:pPr>
            <a:r>
              <a:t>Detección de Fraude con</a:t>
            </a:r>
            <a:br/>
            <a:r>
              <a:t>Inteligencia Artificial Cuántica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0F0F0"/>
                </a:solidFill>
              </a:defRPr>
            </a:pPr>
            <a:r>
              <a:t>Un enfoque híbrido usando Qiskit, CUDA y Hamiltonianos de Ising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El Desafío: Fraude Sofisticado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¿Por qué fallan los modelos clásicos?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Los métodos tradicionales (RBF) asumen fronteras suaves.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El fraude moderno se camufla: son anomalías que imitan transacciones reales.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Necesitamos mayor expresividad matemática para separar los datos.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Solución Propuesta: Mapear datos a un Espacio de Hilbert (2^N dimensiones).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La Física: Hamiltoniano de 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Usamos un circuito variacional que evoluciona los datos bajo interacción ZZ.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Esto induce 'Entrelazamiento Cuántico' controlado por los datos.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FF00FF"/>
                </a:solidFill>
                <a:latin typeface="Courier New"/>
              </a:defRPr>
            </a:pPr>
            <a:r>
              <a:t>H(x) = Σ Zᵢ + Σ ZᵢZⱼ (Interacción Spin-Spin)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B4B4BE"/>
                </a:solidFill>
              </a:defRPr>
            </a:pPr>
            <a:r>
              <a:t>Las correlaciones no lineales permiten detectar patrones invisibles para la estadística clásica.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Topología de Decisión: La Prueba Visual</a:t>
            </a:r>
          </a:p>
        </p:txBody>
      </p:sp>
      <p:pic>
        <p:nvPicPr>
          <p:cNvPr id="3" name="Picture 2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35554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FFFF"/>
                </a:solidFill>
              </a:defRPr>
            </a:pPr>
            <a:r>
              <a:t>Observa la diferencia:</a:t>
            </a:r>
          </a:p>
          <a:p>
            <a:br/>
            <a:pPr>
              <a:defRPr sz="1600">
                <a:solidFill>
                  <a:srgbClr val="F0F0F0"/>
                </a:solidFill>
              </a:defRPr>
            </a:pPr>
            <a:r>
              <a:t>Panel Izq (Clásico):</a:t>
            </a:r>
            <a:br/>
            <a:r>
              <a:t>Fronteras redondas y suaves.</a:t>
            </a:r>
            <a:br/>
            <a:br/>
            <a:r>
              <a:t>Panel Der (Cuántico):</a:t>
            </a:r>
            <a:br/>
            <a:r>
              <a:t>'Islas' de decisión fragmentadas.</a:t>
            </a:r>
            <a:br/>
            <a:br/>
            <a:r>
              <a:t>El modelo cuántico aísla el fraude con precisión quirúrgica.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Resultados del Benchmark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22860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00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00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00FFFF"/>
                          </a:solidFill>
                        </a:defRPr>
                      </a:pPr>
                      <a:r>
                        <a:t>Observación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0F0F0"/>
                          </a:solidFill>
                        </a:defRPr>
                      </a:pPr>
                      <a:r>
                        <a:t>SVM Clásico (RBF)</a:t>
                      </a:r>
                    </a:p>
                  </a:txBody>
                  <a:tcPr>
                    <a:solidFill>
                      <a:srgbClr val="14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0F0F0"/>
                          </a:solidFill>
                        </a:defRPr>
                      </a:pPr>
                      <a:r>
                        <a:t>97.6%</a:t>
                      </a:r>
                    </a:p>
                  </a:txBody>
                  <a:tcPr>
                    <a:solidFill>
                      <a:srgbClr val="14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0F0F0"/>
                          </a:solidFill>
                        </a:defRPr>
                      </a:pPr>
                      <a:r>
                        <a:t>Rápido y Generalista</a:t>
                      </a:r>
                    </a:p>
                  </a:txBody>
                  <a:tcPr>
                    <a:solidFill>
                      <a:srgbClr val="14192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0F0F0"/>
                          </a:solidFill>
                        </a:defRPr>
                      </a:pPr>
                      <a:r>
                        <a:t>SVM Cuántico (Ising)</a:t>
                      </a:r>
                    </a:p>
                  </a:txBody>
                  <a:tcPr>
                    <a:solidFill>
                      <a:srgbClr val="14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0F0F0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419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0F0F0"/>
                          </a:solidFill>
                        </a:defRPr>
                      </a:pPr>
                      <a:r>
                        <a:t>Alta Expresividad</a:t>
                      </a:r>
                    </a:p>
                  </a:txBody>
                  <a:tcPr>
                    <a:solidFill>
                      <a:srgbClr val="14192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B4B4BE"/>
                </a:solidFill>
              </a:defRPr>
            </a:pPr>
            <a:r>
              <a:t>Conclusión: El modelo cuántico es competitivo y ofrece una topología superior para detectar fraudes complejos.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00FFFF"/>
                </a:solidFill>
              </a:defRPr>
            </a:pPr>
            <a:r>
              <a:t>Gracias</a:t>
            </a:r>
          </a:p>
          <a:p>
            <a:br/>
            <a:pPr algn="ctr">
              <a:defRPr sz="2000">
                <a:solidFill>
                  <a:srgbClr val="F0F0F0"/>
                </a:solidFill>
              </a:defRPr>
            </a:pPr>
            <a:r>
              <a:t>Código y Paper disponible en GitHub</a:t>
            </a:r>
            <a:br/>
            <a:r>
              <a:t>#Qiskit #DataScience #QuantumComputing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